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HWT9037 실측</c:v>
                </c:pt>
              </c:strCache>
            </c:strRef>
          </c:tx>
          <c:spPr>
            <a:ln w="28575">
              <a:solidFill>
                <a:srgbClr val="B85C00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25</c:v>
                </c:pt>
                <c:pt idx="5">
                  <c:v>50</c:v>
                </c:pt>
                <c:pt idx="6">
                  <c:v>100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0.0005</c:v>
                </c:pt>
                <c:pt idx="1">
                  <c:v>0.0005</c:v>
                </c:pt>
                <c:pt idx="2">
                  <c:v>0.0005</c:v>
                </c:pt>
                <c:pt idx="3">
                  <c:v>0.0005</c:v>
                </c:pt>
                <c:pt idx="4">
                  <c:v>0.0004</c:v>
                </c:pt>
                <c:pt idx="5">
                  <c:v>0.0004</c:v>
                </c:pt>
                <c:pt idx="6">
                  <c:v>0.0004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SCL3300 실측</c:v>
                </c:pt>
              </c:strCache>
            </c:strRef>
          </c:tx>
          <c:spPr>
            <a:ln w="28575">
              <a:solidFill>
                <a:srgbClr val="0090C4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25</c:v>
                </c:pt>
                <c:pt idx="5">
                  <c:v>50</c:v>
                </c:pt>
                <c:pt idx="6">
                  <c:v>100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0.0098</c:v>
                </c:pt>
                <c:pt idx="1">
                  <c:v>0.0073</c:v>
                </c:pt>
                <c:pt idx="2">
                  <c:v>0.0033</c:v>
                </c:pt>
                <c:pt idx="3">
                  <c:v>0.0023</c:v>
                </c:pt>
                <c:pt idx="4">
                  <c:v>0.0014</c:v>
                </c:pt>
                <c:pt idx="5">
                  <c:v>0.0009</c:v>
                </c:pt>
                <c:pt idx="6">
                  <c:v>0.0006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백색잡음이라면 (SCL)</c:v>
                </c:pt>
              </c:strCache>
            </c:strRef>
          </c:tx>
          <c:spPr>
            <a:ln w="19050">
              <a:solidFill>
                <a:srgbClr val="657985"/>
              </a:solidFill>
            </a:ln>
          </c:spP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25</c:v>
                </c:pt>
                <c:pt idx="5">
                  <c:v>50</c:v>
                </c:pt>
                <c:pt idx="6">
                  <c:v>100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0.0098</c:v>
                </c:pt>
                <c:pt idx="1">
                  <c:v>0.0069</c:v>
                </c:pt>
                <c:pt idx="2">
                  <c:v>0.0044</c:v>
                </c:pt>
                <c:pt idx="3">
                  <c:v>0.0031</c:v>
                </c:pt>
                <c:pt idx="4">
                  <c:v>0.002</c:v>
                </c:pt>
                <c:pt idx="5">
                  <c:v>0.0014</c:v>
                </c:pt>
                <c:pt idx="6">
                  <c:v>0.001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logBase val="1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onsola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96596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657985"/>
                </a:solidFill>
                <a:latin typeface="맑은 고딕"/>
              </a:rPr>
              <a:t>VERTICRANE · 경사 센서 벤치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395728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5400" b="1">
                <a:solidFill>
                  <a:srgbClr val="0F1A21"/>
                </a:solidFill>
                <a:latin typeface="맑은 고딕"/>
              </a:rPr>
              <a:t>HWT9037  vs  SCL3300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61188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3A4C57"/>
                </a:solidFill>
                <a:latin typeface="맑은 고딕"/>
              </a:rPr>
              <a:t>원시 잡음 수치는 두 센서의 순위를 뒤집어 놓는다.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3A4C57"/>
                </a:solidFill>
                <a:latin typeface="맑은 고딕"/>
              </a:rPr>
              <a:t>그 수치가 왜 틀렸고, 대역폭을 맞추면 무엇이 남는가.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892040"/>
            <a:ext cx="2011680" cy="38100"/>
          </a:xfrm>
          <a:prstGeom prst="rect">
            <a:avLst/>
          </a:prstGeom>
          <a:solidFill>
            <a:srgbClr val="009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5138928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00" b="0">
                <a:solidFill>
                  <a:srgbClr val="657985"/>
                </a:solidFill>
                <a:latin typeface="Consolas"/>
              </a:rPr>
              <a:t>2026-08-29  ·  Raspberry Pi Zero 2 W  ·  Modbus RTU + SPI0 CE1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200" b="0">
                <a:solidFill>
                  <a:srgbClr val="657985"/>
                </a:solidFill>
                <a:latin typeface="Consolas"/>
              </a:rPr>
              <a:t>잡음 150 s / 25 Hz / 3,750 샘플  ·  주파수응답 3분  ·  스케일 12–14° 3쌍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재려는 것에 따라 답이 갈린다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682496"/>
          <a:ext cx="10872216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828800"/>
                <a:gridCol w="4837176"/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57985"/>
                          </a:solidFill>
                          <a:latin typeface="맑은 고딕"/>
                        </a:rPr>
                        <a:t>재려는 것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657985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657985"/>
                          </a:solidFill>
                          <a:latin typeface="맑은 고딕"/>
                        </a:rPr>
                        <a:t>근거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A21"/>
                          </a:solidFill>
                          <a:latin typeface="맑은 고딕"/>
                        </a:rPr>
                        <a:t>1 % 기울기 같은 정적 각도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90C4"/>
                          </a:solidFill>
                          <a:latin typeface="Consolas"/>
                        </a:rPr>
                        <a:t>동등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A21"/>
                          </a:solidFill>
                          <a:latin typeface="Consolas"/>
                        </a:rPr>
                        <a:t>오차는 센서가 아니라 설치가 지배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A21"/>
                          </a:solidFill>
                          <a:latin typeface="맑은 고딕"/>
                        </a:rPr>
                        <a:t>지속적인 흔들림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90C4"/>
                          </a:solidFill>
                          <a:latin typeface="Consolas"/>
                        </a:rPr>
                        <a:t>동등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A21"/>
                          </a:solidFill>
                          <a:latin typeface="Consolas"/>
                        </a:rPr>
                        <a:t>최악 조합조차 잡음의 252배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F1A21"/>
                          </a:solidFill>
                          <a:latin typeface="맑은 고딕"/>
                        </a:rPr>
                        <a:t>삐걱거림 같은 짧고 작은 외란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90C4"/>
                          </a:solidFill>
                          <a:latin typeface="Consolas"/>
                        </a:rPr>
                        <a:t>SCL3300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F1A21"/>
                          </a:solidFill>
                          <a:latin typeface="Consolas"/>
                        </a:rPr>
                        <a:t>HWT는 약 10배 큰 외란을 요구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61772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0F1A21"/>
                </a:solidFill>
                <a:latin typeface="맑은 고딕"/>
              </a:rPr>
              <a:t>마지막 줄이 결정적일 수 있다. HWT9037은 2–3 Hz에서 꺾이고 작은 신호는 양자화에 막히므로,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0F1A21"/>
                </a:solidFill>
                <a:latin typeface="맑은 고딕"/>
              </a:rPr>
              <a:t>크레인이 삐걱거리는 중에도 "안정"이라고 답할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먼저 나온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원시 수치는 HWT9037의 압승이라고 말한다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정지 상태 150초, 각자의 각도 출력을 그대로 놓고 잰 표준편차.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HWT9037 ANGX 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B85C00"/>
                </a:solidFill>
                <a:latin typeface="Consolas"/>
              </a:rPr>
              <a:t>0.0005</a:t>
            </a:r>
            <a:r>
              <a:rPr sz="1300">
                <a:solidFill>
                  <a:srgbClr val="657985"/>
                </a:solidFill>
                <a:latin typeface="맑은 고딕"/>
              </a:rPr>
              <a:t> 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peak-to-peak 0.0030°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0410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SCL3300 ANGX 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5002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0090C4"/>
                </a:solidFill>
                <a:latin typeface="Consolas"/>
              </a:rPr>
              <a:t>0.0097</a:t>
            </a:r>
            <a:r>
              <a:rPr sz="1300">
                <a:solidFill>
                  <a:srgbClr val="657985"/>
                </a:solidFill>
                <a:latin typeface="맑은 고딕"/>
              </a:rPr>
              <a:t> 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peak-to-peak 0.0879°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2452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7044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겉보기 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044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0F1A21"/>
                </a:solidFill>
                <a:latin typeface="Consolas"/>
              </a:rPr>
              <a:t>19</a:t>
            </a:r>
            <a:r>
              <a:rPr sz="1300">
                <a:solidFill>
                  <a:srgbClr val="657985"/>
                </a:solidFill>
                <a:latin typeface="맑은 고딕"/>
              </a:rPr>
              <a:t> 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HWT9037이 조용해 보인다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1480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0F1A21"/>
                </a:solidFill>
                <a:latin typeface="맑은 고딕"/>
              </a:rPr>
              <a:t>여기서 멈추면 결론은 하나뿐이다.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0F1A21"/>
                </a:solidFill>
                <a:latin typeface="맑은 고딕"/>
              </a:rPr>
              <a:t>그런데 같은 데이터에 이 결론과 양립할 수 없는 숫자가 둘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반증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HWT9037의 잡음이 자기 눈금보다 325배 작다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정지한 센서의 |acc|는 중력 그대로 1 g여야 하고, 그 흔들림은 순수한 측정 잡음이다.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37413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HWT9037-485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SCL3300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분해능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0.488 mg/LSB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0.083 mg/LSB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|acc| σ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0.0015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0.1508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150초 peak-to-peak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0.008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2.428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σ ÷ 자기 LSB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1/325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1.8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98348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ADC 한 칸을 못 넘는 잡음은 필터 없이 존재할 수 없다. 150초 동안 움직인 전체 폭이 자기 LSB의 1/61이라는 것은,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그 시간 내내 출력이 사실상 상수였다는 뜻이다.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반증 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평균을 내도 나아지지 않는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백색잡음은 N개를 평균 내면 1/√N로 줄어든다. 이미 평활된 출력은 꿈쩍하지 않는다.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2240280"/>
          <a:ext cx="676656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5146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>HWT9037은 100개를 평균 내도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>수평을 유지한다.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>연속 샘플이 서로 독립이 아니라는 뜻이고,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>그 값은 잡음이 아니라 필터의 바닥이다.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>SCL3300은 1/√N를 따라 내려가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>N=100에서 0.0006°로 만난다.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3A4C57"/>
                </a:solidFill>
                <a:latin typeface="맑은 고딕"/>
              </a:rPr>
              <a:t>가로축은 평균 구간, 세로축은 각도 σ(도), 로그.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대가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필터는 진짜로 일어난 일도 지운다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측정 중 책상을 건드렸다. 두 센서가 같은 순간에 5σ 이벤트를 잡았으니 실재한 사건이다.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충격 중 최대 편차 · HWT9037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B85C00"/>
                </a:solidFill>
                <a:latin typeface="Consolas"/>
              </a:rPr>
              <a:t>0.98</a:t>
            </a:r>
            <a:r>
              <a:rPr sz="1300">
                <a:solidFill>
                  <a:srgbClr val="657985"/>
                </a:solidFill>
                <a:latin typeface="맑은 고딕"/>
              </a:rPr>
              <a:t> 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자기 LSB의 2칸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0410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충격 중 최대 편차 · SCL3300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5002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0090C4"/>
                </a:solidFill>
                <a:latin typeface="Consolas"/>
              </a:rPr>
              <a:t>21.4</a:t>
            </a:r>
            <a:r>
              <a:rPr sz="1300">
                <a:solidFill>
                  <a:srgbClr val="657985"/>
                </a:solidFill>
                <a:latin typeface="맑은 고딕"/>
              </a:rPr>
              <a:t> 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258 LSB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2452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7044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감쇠비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044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0F1A21"/>
                </a:solidFill>
                <a:latin typeface="Consolas"/>
              </a:rPr>
              <a:t>22</a:t>
            </a:r>
            <a:r>
              <a:rPr sz="1300">
                <a:solidFill>
                  <a:srgbClr val="657985"/>
                </a:solidFill>
                <a:latin typeface="맑은 고딕"/>
              </a:rPr>
              <a:t> 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주파수 때문이지 진폭이 아니다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69080"/>
            <a:ext cx="1087495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각도 출력으로 보면 HWT9037은 0.004° 범위에만 머물렀고 SCL3300은 0.35° 움직였다.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이 장비의 판정 로직이 하는 일은 "크레인이 안정되었는가"를 묻는 것이다.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짧은 흔들림을 지워버리는 출력은 흔들리는 중에도 "안정"이라고 답할 수 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흔들어서 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필터의 코너는 2–3 Hz다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잡음 바닥의 40배(100–200 mg)로 3분을 흔들고 4초 창으로 훑어 주파수별로 분류했다.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31520"/>
                <a:gridCol w="2103120"/>
                <a:gridCol w="2103120"/>
                <a:gridCol w="1371600"/>
                <a:gridCol w="209397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대역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창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HWT9037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SCL3300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비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1차 fc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0.00 – 0.35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C00"/>
                          </a:solidFill>
                          <a:latin typeface="Consolas"/>
                        </a:rPr>
                        <a:t>203.7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90C4"/>
                          </a:solidFill>
                          <a:latin typeface="Consolas"/>
                        </a:rPr>
                        <a:t>209.8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1.03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0.35 – 0.70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C00"/>
                          </a:solidFill>
                          <a:latin typeface="Consolas"/>
                        </a:rPr>
                        <a:t>133.6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90C4"/>
                          </a:solidFill>
                          <a:latin typeface="Consolas"/>
                        </a:rPr>
                        <a:t>132.3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0.99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0.70 – 1.40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C00"/>
                          </a:solidFill>
                          <a:latin typeface="Consolas"/>
                        </a:rPr>
                        <a:t>113.8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90C4"/>
                          </a:solidFill>
                          <a:latin typeface="Consolas"/>
                        </a:rPr>
                        <a:t>119.1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1.05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3.22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1.40 – 2.80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C00"/>
                          </a:solidFill>
                          <a:latin typeface="Consolas"/>
                        </a:rPr>
                        <a:t>103.5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90C4"/>
                          </a:solidFill>
                          <a:latin typeface="Consolas"/>
                        </a:rPr>
                        <a:t>122.9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1.19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3.09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2.80 – 5.60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C00"/>
                          </a:solidFill>
                          <a:latin typeface="Consolas"/>
                        </a:rPr>
                        <a:t>19.1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90C4"/>
                          </a:solidFill>
                          <a:latin typeface="Consolas"/>
                        </a:rPr>
                        <a:t>42.6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2.24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1.98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07492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HWT9037은 1.4 Hz까지 SCL3300을 5 % 이내로 따라온다 — "느린 것도 못 본다"는 인상은 틀렸다.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충격의 22배 감쇠는 진폭이 아니라 주파수 때문이었다. 순간 충격 에너지는 이 곡선의 오른쪽 바깥에 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검출 여유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지속적인 흔들림은 두 센서 모두 여유롭게 잡는다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가진을 각도로 환산하고 각 센서의 정지 잡음으로 나눈 값.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1828800"/>
                <a:gridCol w="2103120"/>
                <a:gridCol w="209397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가진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HWT9037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잡음 대비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SCL3300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잡음 대비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느림 (0–0.35 Hz)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11.67° rms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23,000배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12.02° rms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1,240배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중간 (0.7–1.4 Hz)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6.52° rms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13,000배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6.82° rms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703배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빠름 (2.8–5.6 Hz)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1.09° rms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2,180배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2.44° rms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252배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48056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0F1A21"/>
                </a:solidFill>
                <a:latin typeface="맑은 고딕"/>
              </a:rPr>
              <a:t>가장 불리한 조합조차 잡음의 252배다. 이 요구사항만 놓고 보면 두 센서는 교체 가능하다.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0F1A21"/>
                </a:solidFill>
                <a:latin typeface="맑은 고딕"/>
              </a:rPr>
              <a:t>갈리는 것은 크기가 아니라 지속 시간이다.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눈금과 재현성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분해능과 정밀도는 다른 것이다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사양이 아니라 150초 기록에서 실제로 나타난 값들의 최소 간격.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  <a:gridCol w="2377440"/>
                <a:gridCol w="282549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실측 눈금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부품 사양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657985"/>
                          </a:solidFill>
                          <a:latin typeface="맑은 고딕"/>
                        </a:rPr>
                        <a:t>150초간 고유값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HWT9037 AccX/Y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1.0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0.488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2개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HWT9037 AccZ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0.488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1개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SCL3300 Acc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0.08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0.083 mg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20–25개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HWT9037 Ang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0.001°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0.001°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4–5개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F1A21"/>
                          </a:solidFill>
                          <a:latin typeface="맑은 고딕"/>
                        </a:rPr>
                        <a:t>SCL3300 Ang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0.0054°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0.00549°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F1A21"/>
                          </a:solidFill>
                          <a:latin typeface="Consolas"/>
                        </a:rPr>
                        <a:t>17–18개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029200"/>
            <a:ext cx="1087495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0F1A21"/>
                </a:solidFill>
                <a:latin typeface="맑은 고딕"/>
              </a:rPr>
              <a:t>드라이버가 HWT9037 가속도를 1 mg로 반올림해 부품 분해능의 절반을 버리고 있다. AccZ는 150초 동안 값이 하나뿐이었다.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0F1A21"/>
                </a:solidFill>
                <a:latin typeface="맑은 고딕"/>
              </a:rPr>
              <a:t>각도 눈금은 HWT9037이 5.4배 곱지만, 그 가속도계 1 LSB는 각도로 0.028°다 — 0.001°는 분해가 아니라 보간이다.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대역폭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SCL3300은 느리게 읽는 것이 아니라 평균 내야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내부 LPF가 10 Hz이고 출력 레이트 제어가 없다. 띄엄띄엄 읽으면 0.5–10 Hz 잡음이 접혀 들어온다.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64261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출력 레이트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솎아내기 σ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평균 σ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이득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5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0.00993°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0.00325°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3.1배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1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0.00854°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0.00137°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6.2배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0.5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0.00880°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0.00087°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10.2배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0.2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0.00810°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0.00062°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13.1배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70916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솎아내기는 출력을 아무리 낮춰도 σ가 0.009°에서 내려오지 않는다. N개 평균은 그 자체가 안티앨리어싱 필터다.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25 Hz는 HWT9037에는 과잉이지만 SCL3300에는 최적이다 — LPF 10 Hz에 Nyquist 12.5 Hz로 맞고, 이웃 샘플이 독립이다.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실사용 판단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1 % 기울기 — 둘 다 문제없다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1 % 기울기는 0.5729°다. 오차 항목을 같은 단위에 놓으면 승부가 센서에 있지 않다.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834640"/>
                <a:gridCol w="291693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각도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% 기울기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HWT9037 정밀도 (25 Hz)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0.0005°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0.0009 %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SCL3300 정밀도 (0.5 Hz)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0.0014°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0.0024 %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SCL3300 정밀도 (25 Hz)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0.0097°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0.0169 %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HWT9037 드라이버 반올림 후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0.0573°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0.1000 %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자세 재현성 (설치 오차)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0.2500°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0.4363 %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02920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예산을 지배하는 것은 설치다. 자세 재현성 0.25°가 그 자체로 0.44 % 기울기이며, 가장 나쁜 센서 항목보다 4배 크다.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F1A21"/>
                </a:solidFill>
                <a:latin typeface="맑은 고딕"/>
              </a:rPr>
              <a:t>같은 노력을 장착 정밀도와 영점 관리에 쓰는 편이 훨씬 크게 남는다.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실사용 판단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삐걱거림 — 여기서는 SCL3300이다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삐걱거림은 짧고, 빠르고, 작다. HWT9037이 불리한 세 조건이 한꺼번에 걸린다.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3–5 Hz 최소 검출 · HWT9037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B85C00"/>
                </a:solidFill>
                <a:latin typeface="Consolas"/>
              </a:rPr>
              <a:t>0.257</a:t>
            </a:r>
            <a:r>
              <a:rPr sz="1300">
                <a:solidFill>
                  <a:srgbClr val="657985"/>
                </a:solidFill>
                <a:latin typeface="맑은 고딕"/>
              </a:rPr>
              <a:t> 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4.48 mg · 0.448 % 기울기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0410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5002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3–5 Hz 최소 검출 · SCL3300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5002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0090C4"/>
                </a:solidFill>
                <a:latin typeface="Consolas"/>
              </a:rPr>
              <a:t>0.026</a:t>
            </a:r>
            <a:r>
              <a:rPr sz="1300">
                <a:solidFill>
                  <a:srgbClr val="657985"/>
                </a:solidFill>
                <a:latin typeface="맑은 고딕"/>
              </a:rPr>
              <a:t> 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0.45 mg · 0.045 % 기울기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2452" y="2240280"/>
            <a:ext cx="3490874" cy="1051560"/>
          </a:xfrm>
          <a:prstGeom prst="rect">
            <a:avLst/>
          </a:prstGeom>
          <a:solidFill>
            <a:srgbClr val="EEF2F5"/>
          </a:solidFill>
          <a:ln w="9525">
            <a:solidFill>
              <a:srgbClr val="D5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7044" y="235915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657985"/>
                </a:solidFill>
                <a:latin typeface="맑은 고딕"/>
              </a:rPr>
              <a:t>요구 외란 크기 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7044" y="2606040"/>
            <a:ext cx="3216554" cy="38404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2600" b="1">
                <a:solidFill>
                  <a:srgbClr val="9A3412"/>
                </a:solidFill>
                <a:latin typeface="Consolas"/>
              </a:rPr>
              <a:t>10</a:t>
            </a:r>
            <a:r>
              <a:rPr sz="1300">
                <a:solidFill>
                  <a:srgbClr val="657985"/>
                </a:solidFill>
                <a:latin typeface="맑은 고딕"/>
              </a:rPr>
              <a:t> 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7044" y="2999232"/>
            <a:ext cx="321655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3A4C57"/>
                </a:solidFill>
                <a:latin typeface="맑은 고딕"/>
              </a:rPr>
              <a:t>HWT9037이 더 큰 것을 요구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" y="3977639"/>
          <a:ext cx="1087221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834640"/>
                <a:gridCol w="291693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책상 충격이 더 작았다면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HWT9037 카운트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SCL3300 카운트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실제 (21.4 mg)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258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1/5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0.2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52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1/20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13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58368" y="580644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F1A21"/>
                </a:solidFill>
                <a:latin typeface="맑은 고딕"/>
              </a:rPr>
              <a:t>그 충격의 1/5 크기 외란은 HWT9037에게 완전히 보이지 않고, SCL3300에게는 52카운트로 또렷하다.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정확도와 스케일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절대 정확도는 HWT9037, 스케일은 무승부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중력은 눈금이 필요 없는 유일한 기준이다. 스케일은 12–14° 회전 세 쌍으로 쟀다.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37413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HWT9037-485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SCL3300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|acc| 평균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1.00102 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0.99586 g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1 g 대비 오차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+0.10 %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−0.41 %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150초 드리프트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&lt;0.0002 °/분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&lt;0.0004 °/분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스케일 비 (3쌍 평균)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C00"/>
                          </a:solidFill>
                          <a:latin typeface="Consolas"/>
                        </a:rPr>
                        <a:t>기준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+0.6 % ± 1.4 %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983480"/>
            <a:ext cx="1087495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0F1A21"/>
                </a:solidFill>
                <a:latin typeface="맑은 고딕"/>
              </a:rPr>
              <a:t>각도는 축들의 비에서 나오므로 세 축 공통 감도 오차는 상쇄된다. 그리고 감도 오차는 잡음과 달리 교정으로 없앨 수 있다.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0F1A21"/>
                </a:solidFill>
                <a:latin typeface="맑은 고딕"/>
              </a:rPr>
              <a:t>스케일은 세 쌍이 +2.15 / −0.70 / +0.33 %로 갈렸는데, 그 편차 자체가 측정 한계다 — 센서가 아니라 자세 재현성에서 온다.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공유 SPI 버스는 영향이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e-paper 패널이 CE0, SCL3300이 CE1. 패널이 전체 리프레시를 도는 동안 100 Hz로 읽었다.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291840"/>
                <a:gridCol w="3374136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SCL3300 단독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e-paper 리프레시 동시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샘플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500 / 5 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2,000 / 20 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실측 레이트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100.0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100.0 Hz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최악 루프 지연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10.1 ms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11.5 ms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CRC 오류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090C4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983480"/>
            <a:ext cx="1087495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0F1A21"/>
                </a:solidFill>
                <a:latin typeface="맑은 고딕"/>
              </a:rPr>
              <a:t>간섭은 1.5 ms뿐이다. 1.4초 리프레시 중 실제로 버스를 점유하는 구간이 10 ms 남짓이고 나머지는 BUSY 폴링이기 때문이다.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0F1A21"/>
                </a:solidFill>
                <a:latin typeface="맑은 고딕"/>
              </a:rPr>
              <a:t>경합이 없는 이유는 셋이다 — 패널이 MISO를 쓰지 않고, 둘 다 SPI 모드 0이며, 커널이 전송을 직렬화한다.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66928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657985"/>
                </a:solidFill>
                <a:latin typeface="맑은 고딕"/>
              </a:rPr>
              <a:t>남은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9264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F1A21"/>
                </a:solidFill>
                <a:latin typeface="맑은 고딕"/>
              </a:rPr>
              <a:t>대체인가 병행인가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82496"/>
            <a:ext cx="1042416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3A4C57"/>
                </a:solidFill>
                <a:latin typeface="맑은 고딕"/>
              </a:rPr>
              <a:t>비교는 끝났다. 갈림길은 SCL3300에 자이로가 없다는 점에서 갈린다.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240280"/>
          <a:ext cx="10872216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288536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대체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657985"/>
                          </a:solidFill>
                          <a:latin typeface="맑은 고딕"/>
                        </a:rPr>
                        <a:t>병행</a:t>
                      </a:r>
                    </a:p>
                  </a:txBody>
                  <a:tcPr anchor="ctr" marL="91440" marR="73152" marT="0" marB="0">
                    <a:solidFill>
                      <a:srgbClr val="EEF2F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변경 범위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recorder.py 샘플 소스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레코드 포맷 또는 파일 분리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걸리는 곳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128바이트 레코드의 자이로 필드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기존 .dat 파일과의 호환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A21"/>
                          </a:solidFill>
                          <a:latin typeface="맑은 고딕"/>
                        </a:rPr>
                        <a:t>확인 필요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stability.py가 자이로를 쓰는지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A21"/>
                          </a:solidFill>
                          <a:latin typeface="Consolas"/>
                        </a:rPr>
                        <a:t>전력·CPU</a:t>
                      </a:r>
                    </a:p>
                  </a:txBody>
                  <a:tcPr anchor="ctr" marL="91440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709160"/>
            <a:ext cx="1087495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0F1A21"/>
                </a:solidFill>
                <a:latin typeface="맑은 고딕"/>
              </a:rPr>
              <a:t>어느 쪽이든 삐걱거림 판정이 결정 기준에 들어가야 한다.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0F1A21"/>
                </a:solidFill>
                <a:latin typeface="맑은 고딕"/>
              </a:rPr>
              <a:t>잡음만 보면 HWT9037이 매력적이지만, 그 잡음이 낮은 이유와 짧은 흔들림을 못 보는 이유가 같은 것이다.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6035040"/>
            <a:ext cx="10874959" cy="15875"/>
          </a:xfrm>
          <a:prstGeom prst="rect">
            <a:avLst/>
          </a:prstGeom>
          <a:solidFill>
            <a:srgbClr val="D5E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1722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657985"/>
                </a:solidFill>
                <a:latin typeface="Consolas"/>
              </a:rPr>
              <a:t>SENSOR_COMPARISON.md · dev/sensor_compare.py · scl3300.py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